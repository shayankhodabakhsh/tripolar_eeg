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392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573  ·  BRAIN SIGNAL PROCESSING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411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5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576" cy="3108960"/>
          </a:xfrm>
          <a:prstGeom prst="rect">
            <a:avLst/>
          </a:prstGeom>
          <a:solidFill>
            <a:srgbClr val="9F1D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 Wave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77240" y="199339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via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77240" y="270662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i="1" dirty="0">
                <a:solidFill>
                  <a:srgbClr val="9F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Tripolar Rings.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signal-processing pipeline comparing tEEG against conventional EEG across a six-subject cohort.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Shayan Khodabakhsh</a:t>
            </a:r>
            <a:r>
              <a:rPr lang="en-US" sz="11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University of Rhode Island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900" b="1" kern="0" spc="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Setup, signals, and metrics.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TCRE</a:t>
            </a: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three concentric rings on one sensor. The geometry computes the surface Laplacian directly at the scalp.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88681"/>
            <a:ext cx="2743200" cy="1072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tEEG </a:t>
            </a: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(odd channels) = local cortical activity via Laplacian.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eEEG </a:t>
            </a: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 channels) = volume-conducted, like a normal disc electrode.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4572" cy="2926080"/>
          </a:xfrm>
          <a:prstGeom prst="rect">
            <a:avLst/>
          </a:prstGeom>
          <a:solidFill>
            <a:srgbClr val="D4D0C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2044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04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channels recorded simultaneously over occipital cortex: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19933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2011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Ch1 / Ch2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57800" y="2011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22311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22494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Ch3 / Ch4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57800" y="22494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77640" y="24871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Ch5 / Ch6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57800" y="2487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270662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77640" y="27249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Ch7 / Ch8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57800" y="27249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29443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77640" y="29626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Ch9 / Ch10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57800" y="29626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20440" y="31821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77640" y="3200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Ch11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7800" y="3200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044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</a:t>
            </a: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alternating eyes-open/closed epochs + 3 visual-stimulation blocks.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1280160"/>
            <a:ext cx="4572" cy="2926080"/>
          </a:xfrm>
          <a:prstGeom prst="rect">
            <a:avLst/>
          </a:prstGeom>
          <a:solidFill>
            <a:srgbClr val="D4D0C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3796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METRICS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15544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Alpha SNR &amp; reactivity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Closed/open ratio.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37960" y="2148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FOOOF decomposition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1/f vs. peaks.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37960" y="27432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0372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Spectrogram SSIM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03720" y="2971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Image-similarity.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37960" y="3337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IV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0372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VEP &amp; disc correlation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0372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agreement.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 </a:t>
            </a: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MNE  ·  FOOOF (specparam)  ·  SciPy  ·  scikit-image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Khodabakhsh  ·  ELE 573  ·  Spring 2026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5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/ 13</a:t>
            </a:r>
            <a:endParaRPr lang="en-US" sz="8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C3AEC29-301F-D149-08E0-D6B930093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16" y="3060381"/>
            <a:ext cx="1946536" cy="12131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900" b="1" kern="0" spc="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920240" y="640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protocol.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20240" y="103327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metrics.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20240" y="1426464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9F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emerging pattern.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19202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Subject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QC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α SNR (dB)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Reactivity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Paste r vs disc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Paste SSIM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Felt SSIM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SK1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&lt;1.0×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1.27×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0.93–0.94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0.24–0.37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RK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0.95–0.96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0.18–0.31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SG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1.39×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0.80–0.81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0.12–0.27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TU2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2.63×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0.99+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0.27–0.34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LS2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1.81×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0.98+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0.28–0.34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A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Khodabakhsh  ·  ELE 573  ·  Spring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5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900" b="1" kern="0" spc="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 ·  TCRE #2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</a:t>
            </a:r>
            <a:r>
              <a:rPr lang="en-US" sz="1100" b="1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</a:t>
            </a:r>
            <a:r>
              <a:rPr lang="en-US" sz="11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LOW agreement</a:t>
            </a:r>
            <a:endParaRPr lang="en-US" sz="1100" dirty="0"/>
          </a:p>
        </p:txBody>
      </p:sp>
      <p:pic>
        <p:nvPicPr>
          <p:cNvPr id="5" name="Image 0" descr="fig_tu2_fe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868680"/>
            <a:ext cx="73152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 ·  TCRE #5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</a:t>
            </a:r>
            <a:r>
              <a:rPr lang="en-US" sz="1100" b="1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r>
              <a:rPr lang="en-US" sz="11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HIGH agreement</a:t>
            </a:r>
            <a:endParaRPr lang="en-US" sz="1100" dirty="0"/>
          </a:p>
        </p:txBody>
      </p:sp>
      <p:pic>
        <p:nvPicPr>
          <p:cNvPr id="8" name="Image 1" descr="fig_tu2_pas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63240"/>
            <a:ext cx="7315200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Khodabakhsh  ·  ELE 573  ·  Spring 2026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5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900" b="1" kern="0" spc="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ALPHA LIVES</a:t>
            </a:r>
            <a:endParaRPr lang="en-US" sz="900" dirty="0"/>
          </a:p>
        </p:txBody>
      </p:sp>
      <p:pic>
        <p:nvPicPr>
          <p:cNvPr id="3" name="Image 0" descr="fig_tu2_ch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48640"/>
            <a:ext cx="8595360" cy="3721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389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TU2 · Ch9 (Paste tEEG). </a:t>
            </a: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stripes at 8–13 Hz fire during every </a:t>
            </a:r>
            <a:r>
              <a:rPr lang="en-US" sz="1100" b="1" i="1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block, vanish during </a:t>
            </a:r>
            <a:r>
              <a:rPr lang="en-US" sz="1100" b="1" i="1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Khodabakhsh  ·  ELE 573  ·  Spring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5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900" b="1" kern="0" spc="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 BY SENSOR</a:t>
            </a:r>
            <a:endParaRPr lang="en-US" sz="900" dirty="0"/>
          </a:p>
        </p:txBody>
      </p:sp>
      <p:pic>
        <p:nvPicPr>
          <p:cNvPr id="3" name="Image 0" descr="fig_tu2_psd_per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3383280" cy="429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0" y="640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alpha peak shows up.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114800" y="1097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TU2 · PSD per channel after 60 Hz notch.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114800" y="1691640"/>
            <a:ext cx="36576" cy="868680"/>
          </a:xfrm>
          <a:prstGeom prst="rect">
            <a:avLst/>
          </a:prstGeom>
          <a:solidFill>
            <a:srgbClr val="9F1D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97680" y="1691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CH9, CH10, CH11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97680" y="19659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channels show a sharp, well-localized peak at the canonical alpha frequency.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14800" y="2697480"/>
            <a:ext cx="36576" cy="868680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97680" y="26974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CH5, CH7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97680" y="29718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tEEG occasionally shows a peak (≈11 Hz), but the shape is broader and lower-amplitude.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114800" y="3703320"/>
            <a:ext cx="36576" cy="868680"/>
          </a:xfrm>
          <a:prstGeom prst="rect">
            <a:avLst/>
          </a:prstGeom>
          <a:solidFill>
            <a:srgbClr val="8A858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97680" y="37033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CH1–CH4, CH6, CH8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97680" y="39776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alpha peak. Mostly 1/f decay or broad noise floor.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Khodabakhsh  ·  ELE 573  ·  Spring 2026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5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900" b="1" kern="0" spc="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FOOOF DECOMPOSITION</a:t>
            </a:r>
            <a:endParaRPr lang="en-US" sz="900" dirty="0"/>
          </a:p>
        </p:txBody>
      </p:sp>
      <p:pic>
        <p:nvPicPr>
          <p:cNvPr id="3" name="Image 0" descr="fig_tu2_foo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48640"/>
            <a:ext cx="8595360" cy="22951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063240"/>
            <a:ext cx="8229600" cy="4572"/>
          </a:xfrm>
          <a:prstGeom prst="rect">
            <a:avLst/>
          </a:prstGeom>
          <a:solidFill>
            <a:srgbClr val="D4D0C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CH9 — PASTE TEEG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3410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0.985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200400" y="3200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CH10 — PASTE EEEG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00400" y="3410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0.959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43600" y="3200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CH11 — PASTE DISC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0" y="3410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0.958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4069080"/>
            <a:ext cx="8229600" cy="4572"/>
          </a:xfrm>
          <a:prstGeom prst="rect">
            <a:avLst/>
          </a:prstGeom>
          <a:solidFill>
            <a:srgbClr val="D4D0C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alpha, not 1/f bias.  </a:t>
            </a: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FOOOF separates the aperiodic 1/f component (gray) from the periodic alpha peak (red). All three paste channels fit at R² &gt; 0.95.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Khodabakhsh  ·  ELE 573  ·  Spring 2026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5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900" b="1" kern="0" spc="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VS. CLOSED</a:t>
            </a:r>
            <a:endParaRPr lang="en-US" sz="900" dirty="0"/>
          </a:p>
        </p:txBody>
      </p:sp>
      <p:pic>
        <p:nvPicPr>
          <p:cNvPr id="3" name="Image 0" descr="fig_tu2_open_clo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3383280" cy="429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0" y="640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Berger, in the spectrum.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114800" y="1097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TU2 · eyes-open (green) vs. eyes-closed (blue) PSDs.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114800" y="1508760"/>
            <a:ext cx="36576" cy="713232"/>
          </a:xfrm>
          <a:prstGeom prst="rect">
            <a:avLst/>
          </a:prstGeom>
          <a:solidFill>
            <a:srgbClr val="9F1D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97680" y="1508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Ch9 / Ch10 / Ch11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97680" y="17556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visibly higher than open at 10–12 Hz. Clean Berger signature.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0" y="2331720"/>
            <a:ext cx="36576" cy="713232"/>
          </a:xfrm>
          <a:prstGeom prst="rect">
            <a:avLst/>
          </a:prstGeom>
          <a:solidFill>
            <a:srgbClr val="2C2C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97680" y="2331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Ch5, Ch7 (felt tEEG)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97680" y="25786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closed &gt; open at alpha. Berger is detectable but partial.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0" y="3154680"/>
            <a:ext cx="36576" cy="713232"/>
          </a:xfrm>
          <a:prstGeom prst="rect">
            <a:avLst/>
          </a:prstGeom>
          <a:solidFill>
            <a:srgbClr val="8A858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97680" y="31546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5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Ch1, Ch3 (felt tEEG)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297680" y="34015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 overlap completely. Clipping floods both states with broadband power.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0" y="3977640"/>
            <a:ext cx="36576" cy="713232"/>
          </a:xfrm>
          <a:prstGeom prst="rect">
            <a:avLst/>
          </a:prstGeom>
          <a:solidFill>
            <a:srgbClr val="8A858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97680" y="39776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5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Ch4, Ch8 (felt eEEG)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297680" y="42245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sometimes lower than open — opposite of Berger. Not interpretable.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Khodabakhsh  ·  ELE 573  ·  Spring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5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900" b="1" kern="0" spc="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TU2 IN FOUR METRICS</a:t>
            </a:r>
            <a:endParaRPr lang="en-US" sz="900" dirty="0"/>
          </a:p>
        </p:txBody>
      </p:sp>
      <p:pic>
        <p:nvPicPr>
          <p:cNvPr id="3" name="Image 0" descr="fig_tu2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48640"/>
            <a:ext cx="8595360" cy="2139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cleanest run, end to end.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four metrics, paste channels (Ch9, Ch10) and the disc reference (Ch11) sit at the right end of every panel.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3703320"/>
            <a:ext cx="8229600" cy="4572"/>
          </a:xfrm>
          <a:prstGeom prst="rect">
            <a:avLst/>
          </a:prstGeom>
          <a:solidFill>
            <a:srgbClr val="D4D0C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SNR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tEEG sits at 1–3 dB. Paste tEEG hits 6 dB.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264408" y="38404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64408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Paste/disc reach 7–8× closed/open. Felt rarely passes 1×.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071616" y="38404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71616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at r ≈ 1.0. Felt averages near 0.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Khodabakhsh  ·  ELE 573  ·  Spring 2026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5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900" b="1" kern="0" spc="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COHORT  (1 OF 2)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paste sensor, </a:t>
            </a:r>
            <a:r>
              <a:rPr lang="en-US" sz="2200" b="1" i="1" dirty="0">
                <a:solidFill>
                  <a:srgbClr val="9F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subject.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Ch9 (Paste tEEG). Bright stripes at 8–13 Hz appear during eyes-closed blocks. HS, RK, and SG.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709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HS</a:t>
            </a:r>
            <a:endParaRPr lang="en-US" sz="1800" dirty="0"/>
          </a:p>
        </p:txBody>
      </p:sp>
      <p:pic>
        <p:nvPicPr>
          <p:cNvPr id="6" name="Image 0" descr="fig_hs_ch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25880"/>
            <a:ext cx="7955280" cy="1078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898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RK</a:t>
            </a:r>
            <a:endParaRPr lang="en-US" sz="1800" dirty="0"/>
          </a:p>
        </p:txBody>
      </p:sp>
      <p:pic>
        <p:nvPicPr>
          <p:cNvPr id="8" name="Image 1" descr="fig_rk_ch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514600"/>
            <a:ext cx="7955280" cy="10789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40873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SG</a:t>
            </a:r>
            <a:endParaRPr lang="en-US" sz="1800" dirty="0"/>
          </a:p>
        </p:txBody>
      </p:sp>
      <p:pic>
        <p:nvPicPr>
          <p:cNvPr id="10" name="Image 2" descr="fig_sg_ch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703320"/>
            <a:ext cx="7955280" cy="10789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Khodabakhsh  ·  ELE 573  ·  Spring 2026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5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900" b="1" kern="0" spc="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COHORT  (2 OF 2)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paste sensor, </a:t>
            </a:r>
            <a:r>
              <a:rPr lang="en-US" sz="2200" b="1" i="1" dirty="0">
                <a:solidFill>
                  <a:srgbClr val="9F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subject.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Ch9 (Paste tEEG). TU2 and LS2 — the cleanest two recordings of the cohort.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965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TU2</a:t>
            </a:r>
            <a:endParaRPr lang="en-US" sz="1800" dirty="0"/>
          </a:p>
        </p:txBody>
      </p:sp>
      <p:pic>
        <p:nvPicPr>
          <p:cNvPr id="6" name="Image 0" descr="fig_tu2_ch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25880"/>
            <a:ext cx="7955280" cy="1691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LS2</a:t>
            </a:r>
            <a:endParaRPr lang="en-US" sz="1800" dirty="0"/>
          </a:p>
        </p:txBody>
      </p:sp>
      <p:pic>
        <p:nvPicPr>
          <p:cNvPr id="8" name="Image 1" descr="fig_ls2_ch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00400"/>
            <a:ext cx="7955280" cy="1691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Khodabakhsh  ·  ELE 573  ·  Spring 2026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5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900" b="1" kern="0" spc="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Caveats for interpretation.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"/>
          </a:xfrm>
          <a:prstGeom prst="rect">
            <a:avLst/>
          </a:prstGeom>
          <a:solidFill>
            <a:srgbClr val="D4D0C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IMPEDANCE ON FELT CHANNELS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Observed.  </a:t>
            </a: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tEEG saturated the ADC at ±3,276.7 µV in 5 of 6 subjects (worst: SG Ch1 ~34%, LS2 Ch1 ~22%, HS Ch3 ~10%).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737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Implication.  </a:t>
            </a: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SSIM and SNR cannot be cleanly attributed to Laplacian filtering — clipping artifact contributes to the structural disagreement.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8229600" cy="4572"/>
          </a:xfrm>
          <a:prstGeom prst="rect">
            <a:avLst/>
          </a:prstGeom>
          <a:solidFill>
            <a:srgbClr val="D4D0C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STIMULATION OVERLAP WITH EYES-OPEN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Observed.  </a:t>
            </a: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Stimulation blocks fall within eyes-open epochs, inflating broadband power during open periods.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788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Implication.  </a:t>
            </a: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Reactivity ratios computed on raw epochs underestimate the Berger effect. Rest-only analysis recovers the expected pattern (TU2 ≈ 2.6×).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4572"/>
          </a:xfrm>
          <a:prstGeom prst="rect">
            <a:avLst/>
          </a:prstGeom>
          <a:solidFill>
            <a:srgbClr val="D4D0C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SIZE AND STATISTICAL INFERENCE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Observed.  </a:t>
            </a: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subjects; no formal hypothesis test was performed.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F1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Implication.  </a:t>
            </a: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cross-subject claims are observational. Pattern consistency supports the conclusion qualitatively, not statistically.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8229600" cy="4572"/>
          </a:xfrm>
          <a:prstGeom prst="rect">
            <a:avLst/>
          </a:prstGeom>
          <a:solidFill>
            <a:srgbClr val="D4D0C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9011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Khodabakhsh  ·  ELE 573  ·  Spring 2026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46720" y="49011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5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900" b="1" kern="0" spc="4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5943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011680" y="10515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9F1D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found.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587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pipeline is reproducible.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metrics applied uniformly to six subjects, eleven channels each.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2080" y="2587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Paste TCRE matches the disc.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926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0.93–0.99; spectrogram SSIM 0.60–0.79; FOOOF R² &gt; 0.95 across paste channels.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III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3685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Berger effect is robust on paste.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023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Closed/open reactivity up to 8×, visible in single-channel spectrograms across all 5 subjects.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703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F1D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IV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12080" y="3685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Felt assessment is impedance-limited.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4023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 in 5 of 6 subjects prevents attributing felt SSIM to Laplacian filtering alone.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736592"/>
            <a:ext cx="8229600" cy="10973"/>
          </a:xfrm>
          <a:prstGeom prst="rect">
            <a:avLst/>
          </a:prstGeom>
          <a:solidFill>
            <a:srgbClr val="9F1D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49011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Shayan Khodabakhsh  ·  University of Rhode Island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1122</Words>
  <Application>Microsoft Office PowerPoint</Application>
  <PresentationFormat>On-screen Show (16:9)</PresentationFormat>
  <Paragraphs>223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Alpha Wave Detection via Tripolar Concentric Ring Electrodes</dc:title>
  <dc:subject>PptxGenJS Presentation</dc:subject>
  <dc:creator>Shayan Khodabakhsh</dc:creator>
  <cp:lastModifiedBy>Shayan Khodabakhsh</cp:lastModifiedBy>
  <cp:revision>3</cp:revision>
  <dcterms:created xsi:type="dcterms:W3CDTF">2026-04-29T01:36:38Z</dcterms:created>
  <dcterms:modified xsi:type="dcterms:W3CDTF">2026-04-29T12:51:36Z</dcterms:modified>
</cp:coreProperties>
</file>